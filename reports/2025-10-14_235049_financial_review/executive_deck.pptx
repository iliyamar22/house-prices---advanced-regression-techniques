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526360.07</c:v>
                </c:pt>
                <c:pt idx="1">
                  <c:v>2031395.48</c:v>
                </c:pt>
                <c:pt idx="2">
                  <c:v>1199382.54</c:v>
                </c:pt>
                <c:pt idx="3">
                  <c:v>1888352.8</c:v>
                </c:pt>
                <c:pt idx="4">
                  <c:v>2096672.92</c:v>
                </c:pt>
                <c:pt idx="5">
                  <c:v>1830310.99</c:v>
                </c:pt>
                <c:pt idx="6">
                  <c:v>1631649.32</c:v>
                </c:pt>
                <c:pt idx="7">
                  <c:v>1802117.71</c:v>
                </c:pt>
                <c:pt idx="8">
                  <c:v>2919576.99</c:v>
                </c:pt>
                <c:pt idx="9">
                  <c:v>2521599.08</c:v>
                </c:pt>
                <c:pt idx="10">
                  <c:v>1664710.5</c:v>
                </c:pt>
                <c:pt idx="11">
                  <c:v>1647842.53</c:v>
                </c:pt>
                <c:pt idx="12">
                  <c:v>1913236.49</c:v>
                </c:pt>
                <c:pt idx="13">
                  <c:v>2098699.31</c:v>
                </c:pt>
                <c:pt idx="14">
                  <c:v>1938815.72</c:v>
                </c:pt>
                <c:pt idx="15">
                  <c:v>1692158.19</c:v>
                </c:pt>
                <c:pt idx="16">
                  <c:v>1977916.41</c:v>
                </c:pt>
                <c:pt idx="17">
                  <c:v>2095820.67</c:v>
                </c:pt>
                <c:pt idx="18">
                  <c:v>1157872.07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OPEX</c:v>
                </c:pt>
              </c:strCache>
            </c:strRef>
          </c:tx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2024-04</c:v>
                </c:pt>
                <c:pt idx="1">
                  <c:v>2024-05</c:v>
                </c:pt>
                <c:pt idx="2">
                  <c:v>2024-06</c:v>
                </c:pt>
                <c:pt idx="3">
                  <c:v>2024-07</c:v>
                </c:pt>
                <c:pt idx="4">
                  <c:v>2024-08</c:v>
                </c:pt>
                <c:pt idx="5">
                  <c:v>2024-09</c:v>
                </c:pt>
                <c:pt idx="6">
                  <c:v>2024-10</c:v>
                </c:pt>
                <c:pt idx="7">
                  <c:v>2024-11</c:v>
                </c:pt>
                <c:pt idx="8">
                  <c:v>2024-12</c:v>
                </c:pt>
                <c:pt idx="9">
                  <c:v>2025-01</c:v>
                </c:pt>
                <c:pt idx="10">
                  <c:v>2025-02</c:v>
                </c:pt>
                <c:pt idx="11">
                  <c:v>2025-03</c:v>
                </c:pt>
                <c:pt idx="12">
                  <c:v>2025-04</c:v>
                </c:pt>
                <c:pt idx="13">
                  <c:v>2025-05</c:v>
                </c:pt>
                <c:pt idx="14">
                  <c:v>2025-06</c:v>
                </c:pt>
                <c:pt idx="15">
                  <c:v>2025-07</c:v>
                </c:pt>
                <c:pt idx="16">
                  <c:v>2025-08</c:v>
                </c:pt>
                <c:pt idx="17">
                  <c:v>2025-09</c:v>
                </c:pt>
                <c:pt idx="18">
                  <c:v>2025-10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-104046.51000000001</c:v>
                </c:pt>
                <c:pt idx="1">
                  <c:v>-698478.84</c:v>
                </c:pt>
                <c:pt idx="2">
                  <c:v>-372954.52</c:v>
                </c:pt>
                <c:pt idx="3">
                  <c:v>-621374.86</c:v>
                </c:pt>
                <c:pt idx="4">
                  <c:v>-542912.1</c:v>
                </c:pt>
                <c:pt idx="5">
                  <c:v>-337593.19</c:v>
                </c:pt>
                <c:pt idx="6">
                  <c:v>-479178.22000000003</c:v>
                </c:pt>
                <c:pt idx="7">
                  <c:v>-517680.37</c:v>
                </c:pt>
                <c:pt idx="8">
                  <c:v>-492250.39</c:v>
                </c:pt>
                <c:pt idx="9">
                  <c:v>-587838.99</c:v>
                </c:pt>
                <c:pt idx="10">
                  <c:v>-604145.34</c:v>
                </c:pt>
                <c:pt idx="11">
                  <c:v>-543410.59</c:v>
                </c:pt>
                <c:pt idx="12">
                  <c:v>-474912.77999999997</c:v>
                </c:pt>
                <c:pt idx="13">
                  <c:v>-612530.55</c:v>
                </c:pt>
                <c:pt idx="14">
                  <c:v>-700128.12</c:v>
                </c:pt>
                <c:pt idx="15">
                  <c:v>-622929.71</c:v>
                </c:pt>
                <c:pt idx="16">
                  <c:v>-450181.15</c:v>
                </c:pt>
                <c:pt idx="17">
                  <c:v>-629122.8</c:v>
                </c:pt>
                <c:pt idx="18">
                  <c:v>-318091.13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Period: 2024-04-22 to 2025-10-20</a:t>
            </a:r>
          </a:p>
          <a:p>
            <a:r>
              <a:t>Generated: 2025-10-14 23:50:52</a:t>
            </a:r>
          </a:p>
          <a:p/>
          <a:p>
            <a:r>
              <a:t>KEY INSIGHTS:</a:t>
            </a:r>
          </a:p>
          <a:p>
            <a:r>
              <a:t>1. Revenue Declined 29.0% YoY [HIGH]</a:t>
            </a:r>
          </a:p>
          <a:p>
            <a:r>
              <a:t>   Revenue declined 29.0% year-over-year, primarily driven by Revenue - Product B which contributed €11739.3K (34% of total revenue).</a:t>
            </a:r>
          </a:p>
          <a:p/>
          <a:p>
            <a:r>
              <a:t>2. Efficient Operations [HIGH]</a:t>
            </a:r>
          </a:p>
          <a:p>
            <a:r>
              <a:t>   Operating expenses are well-controlled at -28.3% of revenue, indicating strong operational efficiency.</a:t>
            </a:r>
          </a:p>
          <a:p/>
          <a:p>
            <a:r>
              <a:t>3. Labor Efficiency [HIGH]</a:t>
            </a:r>
          </a:p>
          <a:p>
            <a:r>
              <a:t>   Payroll costs are 0.0% of revenue, demonstrating strong labor efficiency.</a:t>
            </a:r>
          </a:p>
          <a:p/>
          <a:p>
            <a:r>
              <a:t>TOP RISKS:</a:t>
            </a:r>
          </a:p>
          <a:p>
            <a:r>
              <a:t>1. High Overdue Receivables [HIGH]</a:t>
            </a:r>
          </a:p>
          <a:p>
            <a:r>
              <a:t>   Receivables aging has deteriorated significantly: 99.8% (€4103.2K) of accounts receivable are past due. This represents a cash flow risk and may indicate collection challenges.</a:t>
            </a:r>
          </a:p>
          <a:p/>
          <a:p>
            <a:r>
              <a:t>RECOMMENDED ACTIONS:</a:t>
            </a:r>
          </a:p>
          <a:p>
            <a:r>
              <a:t>1. Improve Collections Process</a:t>
            </a:r>
          </a:p>
          <a:p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Financial Review</a:t>
            </a:r>
          </a:p>
          <a:p>
            <a:r>
              <a:t>Analytical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October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>
              <a:defRPr sz="1200"/>
            </a:pPr>
            <a:r>
              <a:t>EXECUTIVE SUMMARY</a:t>
            </a:r>
          </a:p>
          <a:p>
            <a:pPr>
              <a:defRPr sz="1200"/>
            </a:pPr>
            <a:r>
              <a:t>Period: 2024-04-22 to 2025-10-20</a:t>
            </a:r>
          </a:p>
          <a:p>
            <a:pPr>
              <a:defRPr sz="1200"/>
            </a:pPr>
            <a:r>
              <a:t>Generated: 2025-10-14 23:50:52</a:t>
            </a:r>
          </a:p>
          <a:p>
            <a:pPr lvl="1">
              <a:defRPr sz="1200"/>
            </a:pPr>
            <a:r>
              <a:t>KEY INSIGHTS:</a:t>
            </a:r>
          </a:p>
          <a:p>
            <a:pPr>
              <a:defRPr sz="1200"/>
            </a:pPr>
            <a:r>
              <a:t>1. Revenue Declined 29.0% YoY [HIGH]</a:t>
            </a:r>
          </a:p>
          <a:p>
            <a:pPr>
              <a:defRPr sz="1200"/>
            </a:pPr>
            <a:r>
              <a:t>   Revenue declined 29.0% year-over-year, primarily driven by Revenue - Product B which contributed €11739.3K (34% of total revenue).</a:t>
            </a:r>
          </a:p>
          <a:p>
            <a:pPr>
              <a:defRPr sz="1200"/>
            </a:pPr>
            <a:r>
              <a:t>2. Efficient Operations [HIGH]</a:t>
            </a:r>
          </a:p>
          <a:p>
            <a:pPr>
              <a:defRPr sz="1200"/>
            </a:pPr>
            <a:r>
              <a:t>   Operating expenses are well-controlled at -28.3% of revenue, indicating strong operational efficiency.</a:t>
            </a:r>
          </a:p>
          <a:p>
            <a:pPr>
              <a:defRPr sz="1200"/>
            </a:pPr>
            <a:r>
              <a:t>3. Labor Efficiency [HIGH]</a:t>
            </a:r>
          </a:p>
          <a:p>
            <a:pPr>
              <a:defRPr sz="1200"/>
            </a:pPr>
            <a:r>
              <a:t>   Payroll costs are 0.0% of revenue, demonstrating strong labor efficiency.</a:t>
            </a:r>
          </a:p>
          <a:p>
            <a:pPr lvl="1">
              <a:defRPr sz="1200"/>
            </a:pPr>
            <a:r>
              <a:t>TOP RISKS:</a:t>
            </a:r>
          </a:p>
          <a:p>
            <a:pPr>
              <a:defRPr sz="1200"/>
            </a:pPr>
            <a:r>
              <a:t>1. High Overdue Receivables [HIGH]</a:t>
            </a:r>
          </a:p>
          <a:p>
            <a:pPr>
              <a:defRPr sz="1200"/>
            </a:pPr>
            <a:r>
              <a:t>   Receivables aging has deteriorated significantly: 99.8% (€4103.2K) of accounts receivable are past due. This represents a cash flow risk and may indicate collection challenges.</a:t>
            </a:r>
          </a:p>
          <a:p>
            <a:pPr lvl="1">
              <a:defRPr sz="1200"/>
            </a:pPr>
            <a:r>
              <a:t>RECOMMENDED ACTIONS:</a:t>
            </a:r>
          </a:p>
          <a:p>
            <a:pPr>
              <a:defRPr sz="1200"/>
            </a:pPr>
            <a:r>
              <a:t>1. Improve Collections Process</a:t>
            </a:r>
          </a:p>
          <a:p>
            <a:pPr>
              <a:defRPr sz="1200"/>
            </a:pPr>
            <a:r>
              <a:t>   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Revenue Declined 29.0% YoY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Revenue declined 29.0% year-over-year, primarily driven by Revenue - Product B which contributed €11739.3K (34% of total revenue).</a:t>
            </a:r>
          </a:p>
          <a:p>
            <a:pPr>
              <a:spcAft>
                <a:spcPts val="600"/>
              </a:spcAft>
              <a:defRPr b="1" sz="1400"/>
            </a:pPr>
            <a:r>
              <a:t>2. Efficient Operations [HIGH]</a:t>
            </a:r>
          </a:p>
          <a:p>
            <a:pPr lvl="1">
              <a:spcAft>
                <a:spcPts val="1200"/>
              </a:spcAft>
              <a:defRPr sz="1100"/>
            </a:pPr>
            <a:r>
              <a:t>Operating expenses are well-controlled at -28.3% of revenue, indicating strong operational efficiency.</a:t>
            </a:r>
          </a:p>
          <a:p>
            <a:pPr>
              <a:spcAft>
                <a:spcPts val="600"/>
              </a:spcAft>
              <a:defRPr b="1" sz="1400"/>
            </a:pPr>
            <a:r>
              <a:t>3. Labor Efficiency [HIGH]</a:t>
            </a:r>
          </a:p>
          <a:p>
            <a:pPr lvl="1">
              <a:spcAft>
                <a:spcPts val="1200"/>
              </a:spcAft>
              <a:defRPr sz="1100"/>
            </a:pPr>
            <a:r>
              <a:t>Payroll costs are 0.0% of revenue, demonstrating strong labor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Financial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€34634.5K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371600"/>
            <a:ext cx="1828800" cy="1371600"/>
          </a:xfrm>
          <a:prstGeom prst="rect">
            <a:avLst/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Total OPEX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€-9709.8K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1828800" cy="13716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Net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€46500.9K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1371600"/>
            <a:ext cx="1828800" cy="1371600"/>
          </a:xfrm>
          <a:prstGeom prst="rect">
            <a:avLst/>
          </a:prstGeom>
          <a:solidFill>
            <a:srgbClr val="8064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YoY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01168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-29.0%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Revenue &amp; OPEX Trends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Receivables &amp; Payables 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b="1" sz="1600"/>
            </a:pPr>
            <a:r>
              <a:t>Accounts Receivable</a:t>
            </a:r>
          </a:p>
          <a:p>
            <a:pPr>
              <a:defRPr sz="1200"/>
            </a:pPr>
            <a:r>
              <a:t>• Total Outstanding: €4112.2K</a:t>
            </a:r>
          </a:p>
          <a:p>
            <a:pPr>
              <a:spcAft>
                <a:spcPts val="2000"/>
              </a:spcAft>
              <a:defRPr sz="1200"/>
            </a:pPr>
            <a:r>
              <a:t>• Overdue: 99.8%</a:t>
            </a:r>
          </a:p>
          <a:p>
            <a:pPr>
              <a:spcAft>
                <a:spcPts val="1200"/>
              </a:spcAft>
              <a:defRPr b="1" sz="1600"/>
            </a:pPr>
            <a:r>
              <a:t>Accounts Payable</a:t>
            </a:r>
          </a:p>
          <a:p>
            <a:pPr>
              <a:defRPr sz="1200"/>
            </a:pPr>
            <a:r>
              <a:t>• Total Outstanding: €-2329.4K</a:t>
            </a:r>
          </a:p>
          <a:p>
            <a:pPr>
              <a:defRPr sz="1200"/>
            </a:pPr>
            <a:r>
              <a:t>• Overdue: 100.0%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High Overdue Receivables [HIGH]</a:t>
            </a:r>
          </a:p>
          <a:p>
            <a:pPr lvl="1">
              <a:spcAft>
                <a:spcPts val="1200"/>
              </a:spcAft>
              <a:defRPr sz="1100"/>
            </a:pPr>
            <a:r>
              <a:t>Receivables aging has deteriorated significantly: 99.8% (€4103.2K) of accounts receivable are past due. This represents a cash flow risk and may indicate collection challenges.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b="1" sz="1400"/>
            </a:pPr>
            <a:r>
              <a:t>1. Improve Collections Process</a:t>
            </a:r>
          </a:p>
          <a:p>
            <a:pPr lvl="1">
              <a:spcAft>
                <a:spcPts val="1200"/>
              </a:spcAft>
              <a:defRPr sz="1100"/>
            </a:pPr>
            <a:r>
              <a:t>Escalate collection efforts for overdue receivables. Potential cash impact: €3282.6K. Recommended actions: (1) Review aging report weekly, (2) Implement automated payment reminders, (3) Consider early payment discounts for chronic late payers.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